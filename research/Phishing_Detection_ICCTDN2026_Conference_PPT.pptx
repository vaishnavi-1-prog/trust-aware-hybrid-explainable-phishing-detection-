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C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46" autoAdjust="0"/>
    <p:restoredTop sz="94660"/>
  </p:normalViewPr>
  <p:slideViewPr>
    <p:cSldViewPr snapToGrid="0">
      <p:cViewPr varScale="1">
        <p:scale>
          <a:sx n="42" d="100"/>
          <a:sy n="42" d="100"/>
        </p:scale>
        <p:origin x="200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1C475-AEB9-4D5E-A794-AC6924532B70}" type="datetimeFigureOut">
              <a:rPr lang="en-IN" smtClean="0"/>
              <a:t>27/06/26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742AD-3CA0-48FD-9DDC-F5FAC65305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47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1F918-35B6-4563-AF9F-EAC067683AFE}" type="datetime1">
              <a:rPr lang="en-IN" smtClean="0"/>
              <a:t>27/06/26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9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46503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507B3-A852-4574-8F61-BB8FA83F65E2}" type="datetime1">
              <a:rPr lang="en-IN" smtClean="0"/>
              <a:t>27/06/26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02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68913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87337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4A65C-9DE9-44C6-B515-88719409261B}" type="datetime1">
              <a:rPr lang="en-IN" smtClean="0"/>
              <a:t>27/06/26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779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0111F-BF2C-430F-966C-40154FA18AC2}" type="datetime1">
              <a:rPr lang="en-IN" smtClean="0"/>
              <a:t>27/06/26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28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44911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2498-844C-45E0-8C99-3963FAE101E2}" type="datetime1">
              <a:rPr lang="en-IN" smtClean="0"/>
              <a:t>27/06/26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75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8950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88574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1FD19-DD31-4517-BFB2-5EC232807E32}" type="datetime1">
              <a:rPr lang="en-IN" smtClean="0"/>
              <a:t>27/06/26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ICTACS'23, DITE, AMITY UNIVERSITY, TASHKENT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4AAEA-AD82-44BE-92E0-5294F4A8EE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65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4328933F-08E9-DACB-EE04-931D442C4D09}"/>
              </a:ext>
            </a:extLst>
          </p:cNvPr>
          <p:cNvSpPr txBox="1">
            <a:spLocks/>
          </p:cNvSpPr>
          <p:nvPr/>
        </p:nvSpPr>
        <p:spPr>
          <a:xfrm>
            <a:off x="1596000" y="4386401"/>
            <a:ext cx="9000000" cy="2219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Vaishnavi Devi</a:t>
            </a:r>
          </a:p>
          <a:p>
            <a:r>
              <a:rPr lang="en-IN" sz="1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Information Technology, SRM Valliammai Engineering College, Kattankulathur, India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5E8B312-61BA-4827-4EBF-8797EF9E9717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3AC08A-A8A5-5C54-2F2E-D60FD59183ED}"/>
              </a:ext>
            </a:extLst>
          </p:cNvPr>
          <p:cNvCxnSpPr>
            <a:cxnSpLocks/>
          </p:cNvCxnSpPr>
          <p:nvPr/>
        </p:nvCxnSpPr>
        <p:spPr>
          <a:xfrm>
            <a:off x="154948" y="2038124"/>
            <a:ext cx="1188210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6F9840-2D32-BB91-D90C-086D1AA61E5E}"/>
              </a:ext>
            </a:extLst>
          </p:cNvPr>
          <p:cNvCxnSpPr>
            <a:cxnSpLocks/>
          </p:cNvCxnSpPr>
          <p:nvPr/>
        </p:nvCxnSpPr>
        <p:spPr>
          <a:xfrm>
            <a:off x="74931" y="4220372"/>
            <a:ext cx="11882101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74BE4A-343B-EB5B-CEE4-2D3267236D36}"/>
              </a:ext>
            </a:extLst>
          </p:cNvPr>
          <p:cNvSpPr txBox="1"/>
          <p:nvPr/>
        </p:nvSpPr>
        <p:spPr>
          <a:xfrm>
            <a:off x="509047" y="0"/>
            <a:ext cx="112084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002060"/>
                </a:solidFill>
              </a:rPr>
              <a:t>International Conference on Trustworthy Digital Networks (ICCTDN-2026)</a:t>
            </a:r>
          </a:p>
          <a:p>
            <a:pPr algn="ctr"/>
            <a:r>
              <a:rPr sz="2000" b="1" dirty="0">
                <a:solidFill>
                  <a:srgbClr val="002060"/>
                </a:solidFill>
              </a:rPr>
              <a:t>1–3 July 2026</a:t>
            </a:r>
          </a:p>
          <a:p>
            <a:pPr algn="ctr"/>
            <a:r>
              <a:rPr sz="2000" b="1" dirty="0" err="1">
                <a:solidFill>
                  <a:srgbClr val="002060"/>
                </a:solidFill>
              </a:rPr>
              <a:t>Sharda</a:t>
            </a:r>
            <a:r>
              <a:rPr sz="2000" b="1" dirty="0">
                <a:solidFill>
                  <a:srgbClr val="002060"/>
                </a:solidFill>
              </a:rPr>
              <a:t> University, Greater Noida, India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20638-402F-FACF-81FD-78F756908C38}"/>
              </a:ext>
            </a:extLst>
          </p:cNvPr>
          <p:cNvSpPr txBox="1"/>
          <p:nvPr/>
        </p:nvSpPr>
        <p:spPr>
          <a:xfrm>
            <a:off x="77473" y="2406538"/>
            <a:ext cx="120370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A Trust-Aware Hybrid Explainable AI Framework for Intelligent Phishing Detection</a:t>
            </a:r>
            <a:endParaRPr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D3A2A7-251A-5AE7-0D67-9DDA80FD34D4}"/>
              </a:ext>
            </a:extLst>
          </p:cNvPr>
          <p:cNvSpPr txBox="1"/>
          <p:nvPr/>
        </p:nvSpPr>
        <p:spPr>
          <a:xfrm>
            <a:off x="4720334" y="3360645"/>
            <a:ext cx="2785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dirty="0"/>
              <a:t>Paper ID: </a:t>
            </a:r>
            <a:r>
              <a:rPr lang="en-US" b="1" dirty="0"/>
              <a:t>335</a:t>
            </a:r>
            <a:endParaRPr b="1" dirty="0"/>
          </a:p>
        </p:txBody>
      </p:sp>
      <p:pic>
        <p:nvPicPr>
          <p:cNvPr id="13" name="Picture 12" descr="SHARDA UNIVERSITY 1"/>
          <p:cNvPicPr/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00" b="15945"/>
          <a:stretch>
            <a:fillRect/>
          </a:stretch>
        </p:blipFill>
        <p:spPr bwMode="auto">
          <a:xfrm>
            <a:off x="1091137" y="1068352"/>
            <a:ext cx="2349500" cy="6667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Picture 13" descr="Springer Logo / Misc / Logonoid.com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724" y="1023110"/>
            <a:ext cx="2338705" cy="666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 descr="Media, Arts and Design – South Asian University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085" y="1035552"/>
            <a:ext cx="1781175" cy="666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0704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5E8B312-61BA-4827-4EBF-8797EF9E9717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103D6-7370-835C-2A83-F9CF75CD5B55}"/>
              </a:ext>
            </a:extLst>
          </p:cNvPr>
          <p:cNvSpPr txBox="1"/>
          <p:nvPr/>
        </p:nvSpPr>
        <p:spPr>
          <a:xfrm>
            <a:off x="1742173" y="654518"/>
            <a:ext cx="8075595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CONTENTS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Work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4284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776BC8-1EC8-1AEF-1A8D-A0620367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179D72A-6B0D-60F9-D093-EE3C28B75AC9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54428A-C315-621A-F73D-77308B743EBA}"/>
              </a:ext>
            </a:extLst>
          </p:cNvPr>
          <p:cNvSpPr txBox="1"/>
          <p:nvPr/>
        </p:nvSpPr>
        <p:spPr>
          <a:xfrm>
            <a:off x="1742173" y="654518"/>
            <a:ext cx="8075595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>
              <a:lnSpc>
                <a:spcPct val="150000"/>
              </a:lnSpc>
            </a:pP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4C5D51-7598-4A9B-0347-71EDB9F57E1E}"/>
              </a:ext>
            </a:extLst>
          </p:cNvPr>
          <p:cNvSpPr txBox="1"/>
          <p:nvPr/>
        </p:nvSpPr>
        <p:spPr>
          <a:xfrm>
            <a:off x="1168432" y="1640636"/>
            <a:ext cx="930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Phishing is one of the most dangerous cyber threats, where attackers impersonate trusted entities to steal credentials, banking details, and OTPs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systems are limited — binary classification only, URL-only detection, black-box predictions, and no trust or confidence score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solution: a Hybrid AI framework (Random Forest + BiLSTM + Rule-Based Engine) delivering multi-class output with trust scoring and LLM-generated explanations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Objective: build a multi-class, trust-aware, explainable phishing detection framework that outputs classification, risk score, trust score, and a human-readable explanation</a:t>
            </a:r>
          </a:p>
        </p:txBody>
      </p:sp>
    </p:spTree>
    <p:extLst>
      <p:ext uri="{BB962C8B-B14F-4D97-AF65-F5344CB8AC3E}">
        <p14:creationId xmlns:p14="http://schemas.microsoft.com/office/powerpoint/2010/main" val="649532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708CD6-287A-393C-0EA5-2394B750C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149A90-51DC-571C-2D8D-7281E9175FDE}"/>
              </a:ext>
            </a:extLst>
          </p:cNvPr>
          <p:cNvSpPr txBox="1"/>
          <p:nvPr/>
        </p:nvSpPr>
        <p:spPr>
          <a:xfrm>
            <a:off x="1742173" y="654518"/>
            <a:ext cx="8075595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616829"/>
              </p:ext>
            </p:extLst>
          </p:nvPr>
        </p:nvGraphicFramePr>
        <p:xfrm>
          <a:off x="457200" y="1380000"/>
          <a:ext cx="11277600" cy="47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2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Times New Roman"/>
                        </a:rPr>
                        <a:t>S.no</a:t>
                      </a:r>
                      <a:endParaRPr sz="1800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marL="45720" marR="4572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Author(s)</a:t>
                      </a:r>
                    </a:p>
                  </a:txBody>
                  <a:tcPr marL="45720" marR="4572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 marL="45720" marR="4572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 marL="45720" marR="45720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Gap / Limitation</a:t>
                      </a:r>
                    </a:p>
                  </a:txBody>
                  <a:tcPr marL="45720" marR="45720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2060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Kehkashan et al.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2025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Supervised ML + SHAP/LIME explanation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Single-model; no fusion; no trust scoring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2060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Das Gupta et al.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Hybrid URL + webpage content features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Binary only; no trust score; no domain reputation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206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Roy et al.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2022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Comparative LSTM / </a:t>
                      </a:r>
                      <a:r>
                        <a:rPr sz="1600" b="0" dirty="0" err="1">
                          <a:solidFill>
                            <a:srgbClr val="002060"/>
                          </a:solidFill>
                          <a:latin typeface="Times New Roman"/>
                        </a:rPr>
                        <a:t>BiLSTM</a:t>
                      </a:r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 / GRU on URLs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URL-only; no email text; no XAI or trust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2060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Ojewumi et al.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2022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Multiple ML classifiers + SHAP on URL features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URL-only; no hybrid fusion; no risk output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2060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Somesha et al.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02060"/>
                          </a:solidFill>
                          <a:latin typeface="Times New Roman"/>
                        </a:rPr>
                        <a:t>2020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CNN-LSTM fused with Random Forest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No explainability; binary only; no confidence</a:t>
                      </a:r>
                    </a:p>
                  </a:txBody>
                  <a:tcPr marL="45720" marR="45720">
                    <a:solidFill>
                      <a:srgbClr val="F2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002060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Bahnsen et al.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2017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Character-level RNN on raw URL sequences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dirty="0">
                          <a:solidFill>
                            <a:srgbClr val="002060"/>
                          </a:solidFill>
                          <a:latin typeface="Times New Roman"/>
                        </a:rPr>
                        <a:t>Unidirectional; no fusion; no XAI or risk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930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3AD7B2-0463-E88B-6AD7-7CAB742D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138A1476-EA06-80C0-2CDB-AB69287D9DD4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DEB31A-F801-720A-F00B-7059EFB68C6F}"/>
              </a:ext>
            </a:extLst>
          </p:cNvPr>
          <p:cNvSpPr txBox="1"/>
          <p:nvPr/>
        </p:nvSpPr>
        <p:spPr>
          <a:xfrm>
            <a:off x="1742173" y="654518"/>
            <a:ext cx="8075595" cy="1307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Model</a:t>
            </a:r>
          </a:p>
          <a:p>
            <a:pPr algn="ctr">
              <a:lnSpc>
                <a:spcPct val="150000"/>
              </a:lnSpc>
            </a:pP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520485-0AE7-3950-CA56-158037A86B2A}"/>
              </a:ext>
            </a:extLst>
          </p:cNvPr>
          <p:cNvSpPr txBox="1"/>
          <p:nvPr/>
        </p:nvSpPr>
        <p:spPr>
          <a:xfrm>
            <a:off x="1168432" y="1640636"/>
            <a:ext cx="930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Multi-Input Analysis — URL features (Random Forest), email/text content (BiLSTM), email headers (Rule-Based Engine)</a:t>
            </a:r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Detection Model combining Machine Learning, Deep Learning, and a Rule-Based Engine for higher accuracy and robustness</a:t>
            </a:r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Weighted Consensus Fusion — URL Model 40% + BiLSTM 40% + Header Analysis 20%</a:t>
            </a:r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Trust Score (0–10): 0–4.9 Phishing | 5–6.9 Scam | 7–10 Legitimate</a:t>
            </a:r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Multi-Class Output — Legitimate, Spam, Phishing</a:t>
            </a:r>
          </a:p>
          <a:p>
            <a:pPr marL="342900" indent="-342900">
              <a:lnSpc>
                <a:spcPct val="12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Explainability Module — SHAP feature importance combined with LLM-generated natural-language reasoning</a:t>
            </a:r>
          </a:p>
        </p:txBody>
      </p:sp>
    </p:spTree>
    <p:extLst>
      <p:ext uri="{BB962C8B-B14F-4D97-AF65-F5344CB8AC3E}">
        <p14:creationId xmlns:p14="http://schemas.microsoft.com/office/powerpoint/2010/main" val="653417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53F8B-39CE-CB98-4E96-0CFA7BED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E26C22D8-7E98-6B68-5187-8B60954A1882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3B780-B51B-3C2D-C281-8AF1177E614E}"/>
              </a:ext>
            </a:extLst>
          </p:cNvPr>
          <p:cNvSpPr txBox="1"/>
          <p:nvPr/>
        </p:nvSpPr>
        <p:spPr>
          <a:xfrm>
            <a:off x="1742173" y="654518"/>
            <a:ext cx="8075595" cy="82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3A90C8-6E00-CD46-9C2F-D66D2D0EA613}"/>
              </a:ext>
            </a:extLst>
          </p:cNvPr>
          <p:cNvSpPr txBox="1"/>
          <p:nvPr/>
        </p:nvSpPr>
        <p:spPr>
          <a:xfrm>
            <a:off x="1168432" y="1640636"/>
            <a:ext cx="930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Hybrid RF + BiLSTM + Rule-Based ensemble achieved greater than 90% multi-class accuracy across Phishing, Spam, and Legitimate classes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Random Forest component achieved 97% classification accuracy with balanced precision, recall, and F1-score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Every prediction carries a Trust Score (0–10), letting users gauge the confidence and reliability of the decision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SHAP feature-importance visualization combined with LLM-generated explanations for every classification output</a:t>
            </a:r>
          </a:p>
          <a:p>
            <a:pPr marL="342900" indent="-342900">
              <a:lnSpc>
                <a:spcPct val="13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Fully functional Gradio-based interactive demo — users submit a URL, email/text, and headers, and instantly receive the prediction, trust score, and explanation</a:t>
            </a:r>
          </a:p>
        </p:txBody>
      </p:sp>
    </p:spTree>
    <p:extLst>
      <p:ext uri="{BB962C8B-B14F-4D97-AF65-F5344CB8AC3E}">
        <p14:creationId xmlns:p14="http://schemas.microsoft.com/office/powerpoint/2010/main" val="999177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39BE0-AB1D-A63C-B0F2-436FA011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40D1F77-1560-5775-9CA2-D13BFA99732C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B5B21-3338-FB9E-459A-D23E2CD9321B}"/>
              </a:ext>
            </a:extLst>
          </p:cNvPr>
          <p:cNvSpPr txBox="1"/>
          <p:nvPr/>
        </p:nvSpPr>
        <p:spPr>
          <a:xfrm>
            <a:off x="1742173" y="654518"/>
            <a:ext cx="8075595" cy="822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 &amp; Future 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121D2-418D-380B-2E44-7B2F9B8101E8}"/>
              </a:ext>
            </a:extLst>
          </p:cNvPr>
          <p:cNvSpPr txBox="1"/>
          <p:nvPr/>
        </p:nvSpPr>
        <p:spPr>
          <a:xfrm>
            <a:off x="1168432" y="1640636"/>
            <a:ext cx="9300000" cy="4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IN" sz="1800" b="1" u="sng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Trust-Aware Hybrid Explainable AI Framework was successfully designed and implemented, combining Random Forest, BiLSTM, and Rule-Based header analysis through weighted consensus fusion (40-40-20)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system performs multi-class classification (Phishing / Spam / Legitimate) with Trust Score-based decision support, SHAP and LLM-generated explanations; Random Forest achieved ~97% accuracy on a fully functional Gradio prototype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IN" sz="1800" b="1" u="sng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Complete and submit the comprehensive final project report covering system design, implementation, and experimental results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Extend the framework toward real-time deployment, e.g. as a browser extension or email-gateway plugin</a:t>
            </a:r>
          </a:p>
          <a:p>
            <a:pPr marL="342900" indent="-342900">
              <a:lnSpc>
                <a:spcPct val="12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Broaden evaluation with larger, more diverse real-world datasets to further strengthen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382517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9BE0-AB1D-A63C-B0F2-436FA011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40D1F77-1560-5775-9CA2-D13BFA99732C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8B5B21-3338-FB9E-459A-D23E2CD9321B}"/>
              </a:ext>
            </a:extLst>
          </p:cNvPr>
          <p:cNvSpPr txBox="1"/>
          <p:nvPr/>
        </p:nvSpPr>
        <p:spPr>
          <a:xfrm>
            <a:off x="1742173" y="654518"/>
            <a:ext cx="8075595" cy="1684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>
              <a:lnSpc>
                <a:spcPct val="200000"/>
              </a:lnSpc>
            </a:pPr>
            <a:endParaRPr lang="en-IN" sz="2800" b="1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121D2-418D-380B-2E44-7B2F9B8101E8}"/>
              </a:ext>
            </a:extLst>
          </p:cNvPr>
          <p:cNvSpPr txBox="1"/>
          <p:nvPr/>
        </p:nvSpPr>
        <p:spPr>
          <a:xfrm>
            <a:off x="1168432" y="1640636"/>
            <a:ext cx="9700000" cy="495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V. V. G. Varsha and P. A. Thomas, “Explainable AI for phishing detection: techniques, challenges and experimental validation,” IEEE RAICS, 2025.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[2]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R. Alsakarnah, M. Masoud, and A. Lastnames, “Hybridizing explainable AI (XAI) for intelligent feature extraction in phishing website detection,” Electronics, vol. 15, no. 2, 2026.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[3]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T. Kehkashan et al., “Explainable phishing website detection for secure and interpretable web security,” Scientific Reports, 2025.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[4]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R. Ghadami, “An explainable hybrid deep learning-optimization framework for robust phishing attack detection using GAN and transformer-based feature learning,” Ain Shams Engineering Journal, vol. 16, no. 12, 2025.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[5]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A. Vulfin, Y. Cohen, and A. Shabtai, “A multimodal phishing website detection system using explainable AI,” Multimodal Web Security Journal, vol. 8, no. 1, 2026.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[6]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S. S. Shafin, “An explainable feature selection framework for web phishing detection with machine learning,” ScienceDirect Journal, 2024.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[7]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 Dandotiya et al., “Real-time identification of phishing attacks through machine learning for browser extension security,” Scientific Reports, 2026.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[8]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N. Alsuqayh, A. Mirza, and A. Alhogail, “Exploring feature engineering and explainable AI for phishing website detection: a systematic literature review,” IJECE, vol. 15, no. 6, 2025.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[9]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“Detection of phishing websites and emails using explainable machine learning models,” Journal of Information Systems Engineering and Management, vol. 10, no. 40s, 2025.</a:t>
            </a:r>
          </a:p>
          <a:p>
            <a:pPr marL="274320" indent="-274320">
              <a:lnSpc>
                <a:spcPct val="115000"/>
              </a:lnSpc>
              <a:spcBef>
                <a:spcPts val="500"/>
              </a:spcBef>
              <a:buNone/>
            </a:pPr>
            <a:r>
              <a:rPr lang="en-IN" sz="12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[10] </a:t>
            </a:r>
            <a:r>
              <a:rPr lang="en-IN" sz="1200" b="0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“Real-Time Phishing URL Detection Using Machine Learning,” MDPI Security Journal, vol. 107, no. 1, 2025.</a:t>
            </a:r>
          </a:p>
        </p:txBody>
      </p:sp>
    </p:spTree>
    <p:extLst>
      <p:ext uri="{BB962C8B-B14F-4D97-AF65-F5344CB8AC3E}">
        <p14:creationId xmlns:p14="http://schemas.microsoft.com/office/powerpoint/2010/main" val="884137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Horz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DC216-C0C8-7FFB-84CD-0C8719B0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42E54111-ECEA-445F-7F2D-90324E0B0090}"/>
              </a:ext>
            </a:extLst>
          </p:cNvPr>
          <p:cNvSpPr txBox="1">
            <a:spLocks/>
          </p:cNvSpPr>
          <p:nvPr/>
        </p:nvSpPr>
        <p:spPr>
          <a:xfrm>
            <a:off x="3636745" y="4522760"/>
            <a:ext cx="2298175" cy="1773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IN" sz="1800" b="1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DBDF31-08D6-6412-3153-EA63C017D777}"/>
              </a:ext>
            </a:extLst>
          </p:cNvPr>
          <p:cNvSpPr txBox="1"/>
          <p:nvPr/>
        </p:nvSpPr>
        <p:spPr>
          <a:xfrm>
            <a:off x="1897122" y="2606211"/>
            <a:ext cx="8075595" cy="134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4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6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4226</TotalTime>
  <Words>975</Words>
  <Application>Microsoft Macintosh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Narrow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  Course Code</dc:title>
  <dc:creator>User</dc:creator>
  <cp:lastModifiedBy>Vaishnavi Devi J</cp:lastModifiedBy>
  <cp:revision>130</cp:revision>
  <dcterms:created xsi:type="dcterms:W3CDTF">2020-07-18T13:49:01Z</dcterms:created>
  <dcterms:modified xsi:type="dcterms:W3CDTF">2026-06-27T10:36:50Z</dcterms:modified>
</cp:coreProperties>
</file>